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theme/theme8.xml" ContentType="application/vnd.openxmlformats-officedocument.theme+xml"/>
  <Override PartName="/ppt/slideLayouts/slideLayout10.xml" ContentType="application/vnd.openxmlformats-officedocument.presentationml.slideLayout+xml"/>
  <Override PartName="/ppt/theme/theme9.xml" ContentType="application/vnd.openxmlformats-officedocument.theme+xml"/>
  <Override PartName="/ppt/slideLayouts/slideLayout11.xml" ContentType="application/vnd.openxmlformats-officedocument.presentationml.slideLayout+xml"/>
  <Override PartName="/ppt/theme/theme10.xml" ContentType="application/vnd.openxmlformats-officedocument.theme+xml"/>
  <Override PartName="/ppt/slideLayouts/slideLayout12.xml" ContentType="application/vnd.openxmlformats-officedocument.presentationml.slideLayout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7" r:id="rId5"/>
    <p:sldMasterId id="2147483659" r:id="rId6"/>
    <p:sldMasterId id="2147483661" r:id="rId7"/>
    <p:sldMasterId id="2147483663" r:id="rId8"/>
    <p:sldMasterId id="2147483665" r:id="rId9"/>
    <p:sldMasterId id="2147483667" r:id="rId10"/>
    <p:sldMasterId id="2147483669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4" r:id="rId19"/>
    <p:sldId id="263" r:id="rId20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4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2CDB74A-7405-4DB6-8265-EF866BAB4EE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C7B0E98-B8B1-4936-911D-54251C7B1E4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68CA58E8-C180-48E3-8454-041D7CC01F5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EFAB8BB-CB44-4AE6-B8C7-3FFC5F2264D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47908FD-69C7-4993-9732-4CC39849C91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3CB6A344-6E46-4DBE-92DD-2BA49DDDC9E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8DD42127-6D05-40A0-A5EA-D90E89830BB1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2E02B385-1450-4595-809F-08A834D3949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BDD68D43-63EF-4389-B12D-256D72941F03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16B35C13-C6ED-41CE-89E2-EE8E7819677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BAA96873-AD37-4E77-939F-2644C8DB136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5065789E-90D6-44BE-9CE6-8F799020E59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sv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sv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sv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sv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svg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svg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9"/>
          <p:cNvPicPr/>
          <p:nvPr/>
        </p:nvPicPr>
        <p:blipFill>
          <a:blip r:embed="rId3">
            <a:alphaModFix amt="20000"/>
          </a:blip>
          <a:stretch/>
        </p:blipFill>
        <p:spPr>
          <a:xfrm>
            <a:off x="4267080" y="1444680"/>
            <a:ext cx="3971520" cy="3657240"/>
          </a:xfrm>
          <a:prstGeom prst="rect">
            <a:avLst/>
          </a:prstGeom>
          <a:ln w="0">
            <a:noFill/>
          </a:ln>
        </p:spPr>
      </p:pic>
      <p:sp>
        <p:nvSpPr>
          <p:cNvPr id="9" name="Rectangle 11"/>
          <p:cNvSpPr/>
          <p:nvPr/>
        </p:nvSpPr>
        <p:spPr>
          <a:xfrm>
            <a:off x="0" y="0"/>
            <a:ext cx="228240" cy="6857640"/>
          </a:xfrm>
          <a:prstGeom prst="rect">
            <a:avLst/>
          </a:prstGeom>
          <a:solidFill>
            <a:srgbClr val="17365D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2" name="Rectangle 13"/>
          <p:cNvSpPr/>
          <p:nvPr/>
        </p:nvSpPr>
        <p:spPr>
          <a:xfrm>
            <a:off x="228600" y="0"/>
            <a:ext cx="91080" cy="6857640"/>
          </a:xfrm>
          <a:prstGeom prst="rect">
            <a:avLst/>
          </a:prstGeom>
          <a:solidFill>
            <a:srgbClr val="C820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US" sz="60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342AC8-A500-4616-8523-E820575CDF22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9"/>
          <p:cNvPicPr/>
          <p:nvPr/>
        </p:nvPicPr>
        <p:blipFill>
          <a:blip r:embed="rId3">
            <a:alphaModFix amt="20000"/>
          </a:blip>
          <a:stretch/>
        </p:blipFill>
        <p:spPr>
          <a:xfrm>
            <a:off x="4267080" y="1444680"/>
            <a:ext cx="3971520" cy="3657240"/>
          </a:xfrm>
          <a:prstGeom prst="rect">
            <a:avLst/>
          </a:prstGeom>
          <a:ln w="0">
            <a:noFill/>
          </a:ln>
        </p:spPr>
      </p:pic>
      <p:sp>
        <p:nvSpPr>
          <p:cNvPr id="11" name="Rectangle 11"/>
          <p:cNvSpPr/>
          <p:nvPr/>
        </p:nvSpPr>
        <p:spPr>
          <a:xfrm>
            <a:off x="0" y="0"/>
            <a:ext cx="228240" cy="6857640"/>
          </a:xfrm>
          <a:prstGeom prst="rect">
            <a:avLst/>
          </a:prstGeom>
          <a:solidFill>
            <a:srgbClr val="17365D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12" name="Rectangle 13"/>
          <p:cNvSpPr/>
          <p:nvPr/>
        </p:nvSpPr>
        <p:spPr>
          <a:xfrm>
            <a:off x="228600" y="0"/>
            <a:ext cx="91080" cy="6857640"/>
          </a:xfrm>
          <a:prstGeom prst="rect">
            <a:avLst/>
          </a:prstGeom>
          <a:solidFill>
            <a:srgbClr val="C820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8896B7-9EA1-45C3-B2AD-5FDA9A12FE84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8" name="Graphic 7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650960" y="119160"/>
            <a:ext cx="1325160" cy="132516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9"/>
          <p:cNvPicPr/>
          <p:nvPr/>
        </p:nvPicPr>
        <p:blipFill>
          <a:blip r:embed="rId3">
            <a:alphaModFix amt="20000"/>
          </a:blip>
          <a:stretch/>
        </p:blipFill>
        <p:spPr>
          <a:xfrm>
            <a:off x="4267080" y="1444680"/>
            <a:ext cx="3971520" cy="3657240"/>
          </a:xfrm>
          <a:prstGeom prst="rect">
            <a:avLst/>
          </a:prstGeom>
          <a:ln w="0">
            <a:noFill/>
          </a:ln>
        </p:spPr>
      </p:pic>
      <p:sp>
        <p:nvSpPr>
          <p:cNvPr id="20" name="Rectangle 11"/>
          <p:cNvSpPr/>
          <p:nvPr/>
        </p:nvSpPr>
        <p:spPr>
          <a:xfrm>
            <a:off x="0" y="0"/>
            <a:ext cx="228240" cy="6857640"/>
          </a:xfrm>
          <a:prstGeom prst="rect">
            <a:avLst/>
          </a:prstGeom>
          <a:solidFill>
            <a:srgbClr val="17365D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21" name="Rectangle 13"/>
          <p:cNvSpPr/>
          <p:nvPr/>
        </p:nvSpPr>
        <p:spPr>
          <a:xfrm>
            <a:off x="228600" y="0"/>
            <a:ext cx="91080" cy="6857640"/>
          </a:xfrm>
          <a:prstGeom prst="rect">
            <a:avLst/>
          </a:prstGeom>
          <a:solidFill>
            <a:srgbClr val="C820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</a:p>
        </p:txBody>
      </p:sp>
      <p:sp>
        <p:nvSpPr>
          <p:cNvPr id="2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DE8EB5-C4C3-4CFC-9EB7-9D677D59A2F4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7" name="Graphic 7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650960" y="119160"/>
            <a:ext cx="1325160" cy="132516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19"/>
          <p:cNvPicPr/>
          <p:nvPr/>
        </p:nvPicPr>
        <p:blipFill>
          <a:blip r:embed="rId4">
            <a:alphaModFix amt="20000"/>
          </a:blip>
          <a:stretch/>
        </p:blipFill>
        <p:spPr>
          <a:xfrm>
            <a:off x="4267080" y="1444680"/>
            <a:ext cx="3971520" cy="3657240"/>
          </a:xfrm>
          <a:prstGeom prst="rect">
            <a:avLst/>
          </a:prstGeom>
          <a:ln w="0">
            <a:noFill/>
          </a:ln>
        </p:spPr>
      </p:pic>
      <p:sp>
        <p:nvSpPr>
          <p:cNvPr id="29" name="Rectangle 11"/>
          <p:cNvSpPr/>
          <p:nvPr/>
        </p:nvSpPr>
        <p:spPr>
          <a:xfrm>
            <a:off x="0" y="0"/>
            <a:ext cx="228240" cy="6857640"/>
          </a:xfrm>
          <a:prstGeom prst="rect">
            <a:avLst/>
          </a:prstGeom>
          <a:solidFill>
            <a:srgbClr val="17365D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30" name="Rectangle 13"/>
          <p:cNvSpPr/>
          <p:nvPr/>
        </p:nvSpPr>
        <p:spPr>
          <a:xfrm>
            <a:off x="228600" y="0"/>
            <a:ext cx="91080" cy="6857640"/>
          </a:xfrm>
          <a:prstGeom prst="rect">
            <a:avLst/>
          </a:prstGeom>
          <a:solidFill>
            <a:srgbClr val="C820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</a:p>
        </p:txBody>
      </p:sp>
      <p:sp>
        <p:nvSpPr>
          <p:cNvPr id="33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7A7826-8CD5-4AD9-932E-3B566E23D46C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6" name="Picture 8"/>
          <p:cNvPicPr/>
          <p:nvPr/>
        </p:nvPicPr>
        <p:blipFill>
          <a:blip r:embed="rId4">
            <a:alphaModFix amt="20000"/>
          </a:blip>
          <a:stretch/>
        </p:blipFill>
        <p:spPr>
          <a:xfrm>
            <a:off x="4267080" y="1444680"/>
            <a:ext cx="3971520" cy="3657240"/>
          </a:xfrm>
          <a:prstGeom prst="rect">
            <a:avLst/>
          </a:prstGeom>
          <a:ln w="0">
            <a:noFill/>
          </a:ln>
        </p:spPr>
      </p:pic>
      <p:pic>
        <p:nvPicPr>
          <p:cNvPr id="37" name="Graphic 16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650960" y="119160"/>
            <a:ext cx="1325160" cy="132516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19"/>
          <p:cNvPicPr/>
          <p:nvPr/>
        </p:nvPicPr>
        <p:blipFill>
          <a:blip r:embed="rId3">
            <a:alphaModFix amt="20000"/>
          </a:blip>
          <a:stretch/>
        </p:blipFill>
        <p:spPr>
          <a:xfrm>
            <a:off x="4267080" y="1444680"/>
            <a:ext cx="3971520" cy="3657240"/>
          </a:xfrm>
          <a:prstGeom prst="rect">
            <a:avLst/>
          </a:prstGeom>
          <a:ln w="0">
            <a:noFill/>
          </a:ln>
        </p:spPr>
      </p:pic>
      <p:sp>
        <p:nvSpPr>
          <p:cNvPr id="43" name="Rectangle 11"/>
          <p:cNvSpPr/>
          <p:nvPr/>
        </p:nvSpPr>
        <p:spPr>
          <a:xfrm>
            <a:off x="0" y="0"/>
            <a:ext cx="228240" cy="6857640"/>
          </a:xfrm>
          <a:prstGeom prst="rect">
            <a:avLst/>
          </a:prstGeom>
          <a:solidFill>
            <a:srgbClr val="17365D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44" name="Rectangle 13"/>
          <p:cNvSpPr/>
          <p:nvPr/>
        </p:nvSpPr>
        <p:spPr>
          <a:xfrm>
            <a:off x="228600" y="0"/>
            <a:ext cx="91080" cy="6857640"/>
          </a:xfrm>
          <a:prstGeom prst="rect">
            <a:avLst/>
          </a:prstGeom>
          <a:solidFill>
            <a:srgbClr val="C820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US" sz="60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FF31E2-DA76-4383-8E23-5F367A2D3FD8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0" name="Picture 7"/>
          <p:cNvPicPr/>
          <p:nvPr/>
        </p:nvPicPr>
        <p:blipFill>
          <a:blip r:embed="rId3">
            <a:alphaModFix amt="20000"/>
          </a:blip>
          <a:stretch/>
        </p:blipFill>
        <p:spPr>
          <a:xfrm>
            <a:off x="4267080" y="1444680"/>
            <a:ext cx="3971520" cy="3657240"/>
          </a:xfrm>
          <a:prstGeom prst="rect">
            <a:avLst/>
          </a:prstGeom>
          <a:ln w="0">
            <a:noFill/>
          </a:ln>
        </p:spPr>
      </p:pic>
      <p:pic>
        <p:nvPicPr>
          <p:cNvPr id="51" name="Graphic 9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650960" y="119160"/>
            <a:ext cx="1325160" cy="132516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19"/>
          <p:cNvPicPr/>
          <p:nvPr/>
        </p:nvPicPr>
        <p:blipFill>
          <a:blip r:embed="rId3">
            <a:alphaModFix amt="20000"/>
          </a:blip>
          <a:stretch/>
        </p:blipFill>
        <p:spPr>
          <a:xfrm>
            <a:off x="4267080" y="1444680"/>
            <a:ext cx="3971520" cy="3657240"/>
          </a:xfrm>
          <a:prstGeom prst="rect">
            <a:avLst/>
          </a:prstGeom>
          <a:ln w="0">
            <a:noFill/>
          </a:ln>
        </p:spPr>
      </p:pic>
      <p:sp>
        <p:nvSpPr>
          <p:cNvPr id="53" name="Rectangle 11"/>
          <p:cNvSpPr/>
          <p:nvPr/>
        </p:nvSpPr>
        <p:spPr>
          <a:xfrm>
            <a:off x="0" y="0"/>
            <a:ext cx="228240" cy="6857640"/>
          </a:xfrm>
          <a:prstGeom prst="rect">
            <a:avLst/>
          </a:prstGeom>
          <a:solidFill>
            <a:srgbClr val="17365D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54" name="Rectangle 13"/>
          <p:cNvSpPr/>
          <p:nvPr/>
        </p:nvSpPr>
        <p:spPr>
          <a:xfrm>
            <a:off x="228600" y="0"/>
            <a:ext cx="91080" cy="6857640"/>
          </a:xfrm>
          <a:prstGeom prst="rect">
            <a:avLst/>
          </a:prstGeom>
          <a:solidFill>
            <a:srgbClr val="C820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8A32CB-6F38-47EA-92D3-B7F767163BE7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1" name="Graphic 8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650960" y="119160"/>
            <a:ext cx="1325160" cy="132516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19"/>
          <p:cNvPicPr/>
          <p:nvPr/>
        </p:nvPicPr>
        <p:blipFill>
          <a:blip r:embed="rId3">
            <a:alphaModFix amt="20000"/>
          </a:blip>
          <a:stretch/>
        </p:blipFill>
        <p:spPr>
          <a:xfrm>
            <a:off x="4267080" y="1444680"/>
            <a:ext cx="3971520" cy="3657240"/>
          </a:xfrm>
          <a:prstGeom prst="rect">
            <a:avLst/>
          </a:prstGeom>
          <a:ln w="0">
            <a:noFill/>
          </a:ln>
        </p:spPr>
      </p:pic>
      <p:sp>
        <p:nvSpPr>
          <p:cNvPr id="66" name="Rectangle 11"/>
          <p:cNvSpPr/>
          <p:nvPr/>
        </p:nvSpPr>
        <p:spPr>
          <a:xfrm>
            <a:off x="0" y="0"/>
            <a:ext cx="228240" cy="6857640"/>
          </a:xfrm>
          <a:prstGeom prst="rect">
            <a:avLst/>
          </a:prstGeom>
          <a:solidFill>
            <a:srgbClr val="17365D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67" name="Rectangle 13"/>
          <p:cNvSpPr/>
          <p:nvPr/>
        </p:nvSpPr>
        <p:spPr>
          <a:xfrm>
            <a:off x="228600" y="0"/>
            <a:ext cx="91080" cy="6857640"/>
          </a:xfrm>
          <a:prstGeom prst="rect">
            <a:avLst/>
          </a:prstGeom>
          <a:solidFill>
            <a:srgbClr val="C820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</a:p>
        </p:txBody>
      </p:sp>
      <p:sp>
        <p:nvSpPr>
          <p:cNvPr id="7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51EF30-1E46-4DAD-9995-3516E812D11A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6" name="Graphic 10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650960" y="119160"/>
            <a:ext cx="1325160" cy="132516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19"/>
          <p:cNvPicPr/>
          <p:nvPr/>
        </p:nvPicPr>
        <p:blipFill>
          <a:blip r:embed="rId3">
            <a:alphaModFix amt="20000"/>
          </a:blip>
          <a:stretch/>
        </p:blipFill>
        <p:spPr>
          <a:xfrm>
            <a:off x="4267080" y="1444680"/>
            <a:ext cx="3971520" cy="3657240"/>
          </a:xfrm>
          <a:prstGeom prst="rect">
            <a:avLst/>
          </a:prstGeom>
          <a:ln w="0">
            <a:noFill/>
          </a:ln>
        </p:spPr>
      </p:pic>
      <p:sp>
        <p:nvSpPr>
          <p:cNvPr id="78" name="Rectangle 11"/>
          <p:cNvSpPr/>
          <p:nvPr/>
        </p:nvSpPr>
        <p:spPr>
          <a:xfrm>
            <a:off x="0" y="0"/>
            <a:ext cx="228240" cy="6857640"/>
          </a:xfrm>
          <a:prstGeom prst="rect">
            <a:avLst/>
          </a:prstGeom>
          <a:solidFill>
            <a:srgbClr val="17365D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79" name="Rectangle 13"/>
          <p:cNvSpPr/>
          <p:nvPr/>
        </p:nvSpPr>
        <p:spPr>
          <a:xfrm>
            <a:off x="228600" y="0"/>
            <a:ext cx="91080" cy="6857640"/>
          </a:xfrm>
          <a:prstGeom prst="rect">
            <a:avLst/>
          </a:prstGeom>
          <a:solidFill>
            <a:srgbClr val="C820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A5D9B6-B842-4A6B-9D15-46225A26A5B2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4" name="Graphic 6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650960" y="119160"/>
            <a:ext cx="1325160" cy="132516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19"/>
          <p:cNvPicPr/>
          <p:nvPr/>
        </p:nvPicPr>
        <p:blipFill>
          <a:blip r:embed="rId3">
            <a:alphaModFix amt="20000"/>
          </a:blip>
          <a:stretch/>
        </p:blipFill>
        <p:spPr>
          <a:xfrm>
            <a:off x="4267080" y="1444680"/>
            <a:ext cx="3971520" cy="3657240"/>
          </a:xfrm>
          <a:prstGeom prst="rect">
            <a:avLst/>
          </a:prstGeom>
          <a:ln w="0">
            <a:noFill/>
          </a:ln>
        </p:spPr>
      </p:pic>
      <p:sp>
        <p:nvSpPr>
          <p:cNvPr id="87" name="Rectangle 11"/>
          <p:cNvSpPr/>
          <p:nvPr/>
        </p:nvSpPr>
        <p:spPr>
          <a:xfrm>
            <a:off x="0" y="0"/>
            <a:ext cx="228240" cy="6857640"/>
          </a:xfrm>
          <a:prstGeom prst="rect">
            <a:avLst/>
          </a:prstGeom>
          <a:solidFill>
            <a:srgbClr val="17365D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88" name="Rectangle 13"/>
          <p:cNvSpPr/>
          <p:nvPr/>
        </p:nvSpPr>
        <p:spPr>
          <a:xfrm>
            <a:off x="228600" y="0"/>
            <a:ext cx="91080" cy="6857640"/>
          </a:xfrm>
          <a:prstGeom prst="rect">
            <a:avLst/>
          </a:prstGeom>
          <a:solidFill>
            <a:srgbClr val="C820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7801C7-E588-4A2E-AE3F-5A9EC19126A9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92" name="Graphic 5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650960" y="119160"/>
            <a:ext cx="1325160" cy="132516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19"/>
          <p:cNvPicPr/>
          <p:nvPr/>
        </p:nvPicPr>
        <p:blipFill>
          <a:blip r:embed="rId3">
            <a:alphaModFix amt="20000"/>
          </a:blip>
          <a:stretch/>
        </p:blipFill>
        <p:spPr>
          <a:xfrm>
            <a:off x="4267080" y="1444680"/>
            <a:ext cx="3971520" cy="3657240"/>
          </a:xfrm>
          <a:prstGeom prst="rect">
            <a:avLst/>
          </a:prstGeom>
          <a:ln w="0">
            <a:noFill/>
          </a:ln>
        </p:spPr>
      </p:pic>
      <p:sp>
        <p:nvSpPr>
          <p:cNvPr id="94" name="Rectangle 11"/>
          <p:cNvSpPr/>
          <p:nvPr/>
        </p:nvSpPr>
        <p:spPr>
          <a:xfrm>
            <a:off x="0" y="0"/>
            <a:ext cx="228240" cy="6857640"/>
          </a:xfrm>
          <a:prstGeom prst="rect">
            <a:avLst/>
          </a:prstGeom>
          <a:solidFill>
            <a:srgbClr val="17365D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95" name="Rectangle 13"/>
          <p:cNvSpPr/>
          <p:nvPr/>
        </p:nvSpPr>
        <p:spPr>
          <a:xfrm>
            <a:off x="228600" y="0"/>
            <a:ext cx="91080" cy="6857640"/>
          </a:xfrm>
          <a:prstGeom prst="rect">
            <a:avLst/>
          </a:prstGeom>
          <a:solidFill>
            <a:srgbClr val="C820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US" sz="32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Fifth level</a:t>
            </a: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</a:p>
        </p:txBody>
      </p:sp>
      <p:sp>
        <p:nvSpPr>
          <p:cNvPr id="9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071424-AA21-40DF-A8CF-009B15B1BBC2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2" name="Graphic 8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650960" y="119160"/>
            <a:ext cx="1325160" cy="132516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19"/>
          <p:cNvPicPr/>
          <p:nvPr/>
        </p:nvPicPr>
        <p:blipFill>
          <a:blip r:embed="rId3">
            <a:alphaModFix amt="20000"/>
          </a:blip>
          <a:stretch/>
        </p:blipFill>
        <p:spPr>
          <a:xfrm>
            <a:off x="4267080" y="1444680"/>
            <a:ext cx="3971520" cy="3657240"/>
          </a:xfrm>
          <a:prstGeom prst="rect">
            <a:avLst/>
          </a:prstGeom>
          <a:ln w="0">
            <a:noFill/>
          </a:ln>
        </p:spPr>
      </p:pic>
      <p:sp>
        <p:nvSpPr>
          <p:cNvPr id="104" name="Rectangle 11"/>
          <p:cNvSpPr/>
          <p:nvPr/>
        </p:nvSpPr>
        <p:spPr>
          <a:xfrm>
            <a:off x="0" y="0"/>
            <a:ext cx="228240" cy="6857640"/>
          </a:xfrm>
          <a:prstGeom prst="rect">
            <a:avLst/>
          </a:prstGeom>
          <a:solidFill>
            <a:srgbClr val="17365D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105" name="Rectangle 13"/>
          <p:cNvSpPr/>
          <p:nvPr/>
        </p:nvSpPr>
        <p:spPr>
          <a:xfrm>
            <a:off x="228600" y="0"/>
            <a:ext cx="91080" cy="6857640"/>
          </a:xfrm>
          <a:prstGeom prst="rect">
            <a:avLst/>
          </a:prstGeom>
          <a:solidFill>
            <a:srgbClr val="C820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US" sz="32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Aptos"/>
              </a:rPr>
              <a:t>Seventh Outline Level</a:t>
            </a:r>
          </a:p>
        </p:txBody>
      </p:sp>
      <p:sp>
        <p:nvSpPr>
          <p:cNvPr id="10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</a:p>
        </p:txBody>
      </p:sp>
      <p:sp>
        <p:nvSpPr>
          <p:cNvPr id="109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E2C587-EB65-4AE6-A127-E394F07931AF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12" name="Graphic 8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650960" y="119160"/>
            <a:ext cx="1325160" cy="132516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eather.gov/lmk/skywarn" TargetMode="External"/><Relationship Id="rId2" Type="http://schemas.openxmlformats.org/officeDocument/2006/relationships/hyperlink" Target="https://www.weather.gov/pah/spottertraining" TargetMode="Externa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484280" y="256860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chemeClr val="dk1"/>
                </a:solidFill>
                <a:latin typeface="Aptos Display"/>
              </a:rPr>
              <a:t>Kentucky District 3</a:t>
            </a:r>
            <a:br>
              <a:rPr sz="6000"/>
            </a:br>
            <a:r>
              <a:rPr lang="en-US" sz="6000" b="0" strike="noStrike" spc="-1">
                <a:solidFill>
                  <a:schemeClr val="dk1"/>
                </a:solidFill>
                <a:latin typeface="Aptos Display"/>
              </a:rPr>
              <a:t>Warren County</a:t>
            </a:r>
            <a:endParaRPr lang="en-US" sz="60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subTitle"/>
          </p:nvPr>
        </p:nvSpPr>
        <p:spPr>
          <a:xfrm>
            <a:off x="1484280" y="5011560"/>
            <a:ext cx="9143640" cy="738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Club Meeting – 2026.09.03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5" name="Graphic 4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09480" y="126720"/>
            <a:ext cx="2742840" cy="2742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Agenda</a:t>
            </a:r>
            <a:endParaRPr lang="en-US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chemeClr val="dk1"/>
                </a:solidFill>
                <a:latin typeface="Aptos"/>
              </a:rPr>
              <a:t>Results of 8/29 Field Exercis</a:t>
            </a:r>
            <a:r>
              <a:rPr lang="en-US" sz="2800" spc="-1" dirty="0">
                <a:solidFill>
                  <a:schemeClr val="dk1"/>
                </a:solidFill>
                <a:latin typeface="Aptos"/>
              </a:rPr>
              <a:t>e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>
                <a:solidFill>
                  <a:schemeClr val="dk1"/>
                </a:solidFill>
                <a:latin typeface="Aptos"/>
              </a:rPr>
              <a:t>Portable antenna used for NCS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chemeClr val="dk1"/>
                </a:solidFill>
                <a:latin typeface="Aptos"/>
              </a:rPr>
              <a:t>Summary of Discussion with Emergency Management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chemeClr val="dk1"/>
                </a:solidFill>
                <a:latin typeface="Aptos"/>
              </a:rPr>
              <a:t>Weekly net NCS rotation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chemeClr val="dk1"/>
                </a:solidFill>
                <a:latin typeface="Aptos"/>
              </a:rPr>
              <a:t>Nationwide ARRL Simulated Emergency Test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chemeClr val="dk1"/>
                </a:solidFill>
                <a:latin typeface="Aptos"/>
              </a:rPr>
              <a:t>Future: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chemeClr val="dk1"/>
                </a:solidFill>
                <a:latin typeface="Aptos"/>
              </a:rPr>
              <a:t>Desired cadence for meetings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chemeClr val="dk1"/>
                </a:solidFill>
                <a:latin typeface="Aptos"/>
              </a:rPr>
              <a:t>Desired cadence for Exercises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Warren County KY ARES • KQ4TIV Emergency Coordinator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FF681FF-B4D3-4753-9BCF-6428B6F69F94}" type="slidenum">
              <a:rPr/>
              <a:t>2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68CFEB-6DB8-437A-824F-7F58A8A1A75C}" type="datetime1">
              <a:rPr lang="en-US"/>
              <a:t>8/28/2026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 dirty="0">
                <a:solidFill>
                  <a:schemeClr val="dk1"/>
                </a:solidFill>
                <a:latin typeface="Aptos Display"/>
              </a:rPr>
              <a:t>Field Exercise 20260829</a:t>
            </a:r>
            <a:endParaRPr lang="en-US" sz="4400" b="0" strike="noStrike" spc="-1" dirty="0">
              <a:solidFill>
                <a:schemeClr val="dk1"/>
              </a:solidFill>
              <a:latin typeface="Aptos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Warren County KY ARES • KQ4TIV Emergency Coordinator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7E398BF-FE79-4440-8C23-BA0CAB0410AD}" type="slidenum">
              <a:rPr/>
              <a:t>3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E350951-5AFF-492F-AC77-E639A4F930F6}" type="datetime1">
              <a:rPr lang="en-US"/>
              <a:t>8/28/2026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0" y="52308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>
              <a:buNone/>
            </a:pPr>
            <a:endParaRPr lang="en-US" sz="4400" b="0" strike="noStrike" spc="-1">
              <a:solidFill>
                <a:schemeClr val="dk1"/>
              </a:solidFill>
              <a:latin typeface="Aptos Display"/>
            </a:endParaRPr>
          </a:p>
        </p:txBody>
      </p:sp>
      <p:pic>
        <p:nvPicPr>
          <p:cNvPr id="121" name="Picture 6"/>
          <p:cNvPicPr/>
          <p:nvPr/>
        </p:nvPicPr>
        <p:blipFill>
          <a:blip r:embed="rId2"/>
          <a:stretch/>
        </p:blipFill>
        <p:spPr>
          <a:xfrm>
            <a:off x="3581280" y="218160"/>
            <a:ext cx="6242400" cy="64213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Warren County KY ARES • KQ4TIV Emergency Coordinator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870C38D1-BB04-46C9-9B6F-5556F8454DF9}" type="slidenum">
              <a:rPr/>
              <a:t>4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fld id="{EF562670-99AB-4C04-BA1D-2D5000EB485D}" type="datetime1">
              <a:rPr lang="en-US"/>
              <a:t>8/28/2026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kumimoji="0" lang="en-US" sz="44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j-ea"/>
                <a:cs typeface="+mj-cs"/>
              </a:rPr>
              <a:t>Dual Band Roll Up Antenna</a:t>
            </a:r>
            <a:endParaRPr lang="en-US" sz="1800" b="0" strike="noStrike" spc="-1" dirty="0">
              <a:solidFill>
                <a:schemeClr val="dk1"/>
              </a:solidFill>
              <a:latin typeface="Aptos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5943600" y="1825560"/>
            <a:ext cx="540972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>
                <a:solidFill>
                  <a:schemeClr val="dk1"/>
                </a:solidFill>
                <a:latin typeface="Aptos"/>
              </a:rPr>
              <a:t>Ed Fong WB6IQN Design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>
                <a:solidFill>
                  <a:schemeClr val="dk1"/>
                </a:solidFill>
                <a:latin typeface="Aptos"/>
              </a:rPr>
              <a:t>Replace 4-1/4” of RG-174A with 5” of RG8X with 5” cut in ladder line to match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>
                <a:solidFill>
                  <a:schemeClr val="dk1"/>
                </a:solidFill>
                <a:latin typeface="Aptos"/>
              </a:rPr>
              <a:t>A good chunk of shrink wrap</a:t>
            </a:r>
            <a:r>
              <a:rPr lang="en-US" sz="2800" spc="-1" dirty="0">
                <a:solidFill>
                  <a:schemeClr val="dk1"/>
                </a:solidFill>
                <a:latin typeface="Aptos"/>
              </a:rPr>
              <a:t> (red box)</a:t>
            </a:r>
            <a:r>
              <a:rPr lang="en-US" sz="2800" b="0" strike="noStrike" spc="-1" dirty="0">
                <a:solidFill>
                  <a:schemeClr val="dk1"/>
                </a:solidFill>
                <a:latin typeface="Aptos"/>
              </a:rPr>
              <a:t> over the Coax going to radio will secure it to the ladder line and join the stub and ladder line together</a:t>
            </a:r>
          </a:p>
        </p:txBody>
      </p:sp>
      <p:pic>
        <p:nvPicPr>
          <p:cNvPr id="124" name="Picture 123"/>
          <p:cNvPicPr/>
          <p:nvPr/>
        </p:nvPicPr>
        <p:blipFill>
          <a:blip r:embed="rId2"/>
          <a:stretch/>
        </p:blipFill>
        <p:spPr>
          <a:xfrm>
            <a:off x="914400" y="1828800"/>
            <a:ext cx="4532400" cy="434340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Warren County KY ARES • KQ4TIV Emergency Coordinator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BC915A7-F497-4686-97ED-B0FC0DEF0135}" type="slidenum">
              <a:rPr/>
              <a:t>5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B924540-766D-45C0-A881-C38E4435713D}" type="datetime1">
              <a:rPr lang="en-US"/>
              <a:t>8/28/2026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4977E5-96D6-30A8-0C90-C777743A1B6D}"/>
              </a:ext>
            </a:extLst>
          </p:cNvPr>
          <p:cNvSpPr/>
          <p:nvPr/>
        </p:nvSpPr>
        <p:spPr>
          <a:xfrm>
            <a:off x="2999232" y="2779776"/>
            <a:ext cx="466344" cy="11704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807130-183F-9475-9873-48C81B6DD9DD}"/>
              </a:ext>
            </a:extLst>
          </p:cNvPr>
          <p:cNvSpPr/>
          <p:nvPr/>
        </p:nvSpPr>
        <p:spPr>
          <a:xfrm>
            <a:off x="2947428" y="4742688"/>
            <a:ext cx="466344" cy="11704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Warren County EM Discussions</a:t>
            </a:r>
            <a:endParaRPr lang="en-US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3550" lnSpcReduction="10000"/>
          </a:bodyPr>
          <a:lstStyle/>
          <a:p>
            <a:pPr indent="0" defTabSz="914400">
              <a:lnSpc>
                <a:spcPct val="75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KY4JPS introduced me to the Director of Public Safety Bill Rector and Deputy Director of WCEM Kevin Bailey.  On 8/14, Pat and myself met with Kevin (Bill not able to attend due to family emergency).  </a:t>
            </a:r>
          </a:p>
          <a:p>
            <a:pPr indent="0" defTabSz="914400">
              <a:lnSpc>
                <a:spcPct val="75000"/>
              </a:lnSpc>
              <a:spcAft>
                <a:spcPts val="601"/>
              </a:spcAft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75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I introduced our group, it’s mission and priorities, and we discussed how ARES can help with their goals.  It was a high-level meeting and I expect it to be the first of many.  </a:t>
            </a:r>
          </a:p>
          <a:p>
            <a:pPr indent="0" defTabSz="914400">
              <a:lnSpc>
                <a:spcPct val="75000"/>
              </a:lnSpc>
              <a:spcAft>
                <a:spcPts val="601"/>
              </a:spcAft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75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He did mention that there will be a statewide, all first responders SET, in the spring of 2027, something they do every 5 years.</a:t>
            </a:r>
          </a:p>
          <a:p>
            <a:pPr indent="0" defTabSz="914400">
              <a:lnSpc>
                <a:spcPct val="75000"/>
              </a:lnSpc>
              <a:spcAft>
                <a:spcPts val="601"/>
              </a:spcAft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75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He specifically mentioned Winlink and other digital modes, so please start learning about those.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Warren County KY ARES • KQ4TIV Emergency Coordinator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E70DA9E-78D6-4960-BB07-C872100CA9EC}" type="slidenum">
              <a:rPr/>
              <a:t>6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501985C-7FF0-4906-954D-04E930F320C7}" type="datetime1">
              <a:rPr lang="en-US"/>
              <a:t>8/28/2026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ARRL Simulated Emergency Test (SET)</a:t>
            </a:r>
            <a:endParaRPr lang="en-US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chemeClr val="dk1"/>
                </a:solidFill>
                <a:latin typeface="Aptos"/>
              </a:rPr>
              <a:t>10/3-10/4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chemeClr val="dk1"/>
                </a:solidFill>
                <a:latin typeface="Aptos"/>
              </a:rPr>
              <a:t>Will be a surprise time and event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>
                <a:solidFill>
                  <a:schemeClr val="dk1"/>
                </a:solidFill>
                <a:latin typeface="Aptos"/>
              </a:rPr>
              <a:t>Working with SEC to verify state participation plans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lang="en-US" sz="2800" b="0" strike="noStrike" spc="-1" dirty="0">
              <a:solidFill>
                <a:schemeClr val="dk1"/>
              </a:solidFill>
              <a:latin typeface="Aptos"/>
            </a:endParaRPr>
          </a:p>
        </p:txBody>
      </p:sp>
      <p:sp>
        <p:nvSpPr>
          <p:cNvPr id="129" name="TextBox 6"/>
          <p:cNvSpPr/>
          <p:nvPr/>
        </p:nvSpPr>
        <p:spPr>
          <a:xfrm>
            <a:off x="1994040" y="6181200"/>
            <a:ext cx="935928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100" b="0" i="1" strike="noStrike" spc="-1">
                <a:solidFill>
                  <a:schemeClr val="dk2">
                    <a:lumMod val="50000"/>
                    <a:lumOff val="50000"/>
                  </a:schemeClr>
                </a:solidFill>
                <a:latin typeface="Aptos"/>
              </a:rPr>
              <a:t>https://www.arrl.org/simulated-emergency-test?utm_source=Informz&amp;utm_medium=Email&amp;utm_campaign=ARRL&amp;_zs=pgaDm&amp;_zl=J2tq3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Warren County KY ARES • KQ4TIV Emergency Coordinator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3817D06-99AF-472C-8CE6-5440FD5342CF}" type="slidenum">
              <a:rPr/>
              <a:t>7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0C5F2D0-3214-47E7-9691-2E535CA1FB28}" type="datetime1">
              <a:rPr lang="en-US"/>
              <a:t>8/28/2026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764B1-E2A5-3DDB-4F99-9E49A77B8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NWS Spotter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C5DAF-CA29-8C3D-4422-0B5CF454AEF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dirty="0"/>
              <a:t>The National Weather Service offers spotter (SKYWARN) training and certification on a regular basis</a:t>
            </a:r>
          </a:p>
          <a:p>
            <a:r>
              <a:rPr lang="en-US" dirty="0"/>
              <a:t>You can sign up and take the classes online at </a:t>
            </a:r>
            <a:r>
              <a:rPr lang="en-US" dirty="0">
                <a:hlinkClick r:id="rId2"/>
              </a:rPr>
              <a:t>https://www.weather.gov/pah/spottertraining</a:t>
            </a:r>
            <a:r>
              <a:rPr lang="en-US" dirty="0"/>
              <a:t> or </a:t>
            </a:r>
            <a:r>
              <a:rPr lang="en-US" dirty="0">
                <a:hlinkClick r:id="rId3"/>
              </a:rPr>
              <a:t>https://www.weather.gov/lmk/skywarn</a:t>
            </a:r>
            <a:endParaRPr lang="en-US" dirty="0"/>
          </a:p>
          <a:p>
            <a:r>
              <a:rPr lang="en-US" dirty="0"/>
              <a:t>Paducah is offering Elite Spotter Training (Advanced Spotting) on 10/22/26 from 18:00-22:00, but you must be Basic certified before taking this one.</a:t>
            </a:r>
          </a:p>
          <a:p>
            <a:pPr lvl="1"/>
            <a:r>
              <a:rPr lang="en-US" dirty="0"/>
              <a:t>Class is offered as on-line webinar</a:t>
            </a:r>
          </a:p>
        </p:txBody>
      </p:sp>
    </p:spTree>
    <p:extLst>
      <p:ext uri="{BB962C8B-B14F-4D97-AF65-F5344CB8AC3E}">
        <p14:creationId xmlns:p14="http://schemas.microsoft.com/office/powerpoint/2010/main" val="2560575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1BC9C-8618-0D6C-EA5F-D6956A872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7F8BC-7734-59C4-3E55-89AC88620D1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365039"/>
            <a:ext cx="10515240" cy="4688223"/>
          </a:xfrm>
        </p:spPr>
        <p:txBody>
          <a:bodyPr/>
          <a:lstStyle/>
          <a:p>
            <a:r>
              <a:rPr lang="en-US" dirty="0"/>
              <a:t>How often do you want to hold meetings?</a:t>
            </a:r>
          </a:p>
          <a:p>
            <a:r>
              <a:rPr lang="en-US" dirty="0"/>
              <a:t>How often do you want to do field exercises?</a:t>
            </a:r>
          </a:p>
          <a:p>
            <a:r>
              <a:rPr lang="en-US" dirty="0"/>
              <a:t>What else can I do for you?</a:t>
            </a:r>
          </a:p>
        </p:txBody>
      </p:sp>
    </p:spTree>
    <p:extLst>
      <p:ext uri="{BB962C8B-B14F-4D97-AF65-F5344CB8AC3E}">
        <p14:creationId xmlns:p14="http://schemas.microsoft.com/office/powerpoint/2010/main" val="1704984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9452</TotalTime>
  <Words>463</Words>
  <Application>Microsoft Office PowerPoint</Application>
  <PresentationFormat>Widescreen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9</vt:i4>
      </vt:variant>
    </vt:vector>
  </HeadingPairs>
  <TitlesOfParts>
    <vt:vector size="26" baseType="lpstr">
      <vt:lpstr>Aptos</vt:lpstr>
      <vt:lpstr>Aptos Display</vt:lpstr>
      <vt:lpstr>Arial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Kentucky District 3 Warren County</vt:lpstr>
      <vt:lpstr>Agenda</vt:lpstr>
      <vt:lpstr>Field Exercise 20260829</vt:lpstr>
      <vt:lpstr>PowerPoint Presentation</vt:lpstr>
      <vt:lpstr>Dual Band Roll Up Antenna</vt:lpstr>
      <vt:lpstr>Warren County EM Discussions</vt:lpstr>
      <vt:lpstr>ARRL Simulated Emergency Test (SET)</vt:lpstr>
      <vt:lpstr>NWS Spotter Training</vt:lpstr>
      <vt:lpstr>Future Items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Nathaniel Butts</dc:creator>
  <dc:description/>
  <cp:lastModifiedBy>Nathaniel Butts</cp:lastModifiedBy>
  <cp:revision>4</cp:revision>
  <dcterms:created xsi:type="dcterms:W3CDTF">2026-08-11T18:14:18Z</dcterms:created>
  <dcterms:modified xsi:type="dcterms:W3CDTF">2026-08-28T13:37:25Z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6</vt:i4>
  </property>
</Properties>
</file>